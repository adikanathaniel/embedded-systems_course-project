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97" r:id="rId3"/>
    <p:sldId id="258" r:id="rId4"/>
    <p:sldId id="270" r:id="rId5"/>
    <p:sldId id="298" r:id="rId6"/>
    <p:sldId id="302" r:id="rId7"/>
    <p:sldId id="303" r:id="rId8"/>
    <p:sldId id="304" r:id="rId9"/>
    <p:sldId id="306" r:id="rId10"/>
    <p:sldId id="305" r:id="rId11"/>
    <p:sldId id="307" r:id="rId12"/>
    <p:sldId id="308" r:id="rId13"/>
    <p:sldId id="310" r:id="rId14"/>
    <p:sldId id="309" r:id="rId15"/>
    <p:sldId id="325" r:id="rId16"/>
    <p:sldId id="326" r:id="rId17"/>
    <p:sldId id="327" r:id="rId18"/>
    <p:sldId id="311" r:id="rId19"/>
    <p:sldId id="322" r:id="rId20"/>
    <p:sldId id="328" r:id="rId21"/>
    <p:sldId id="318" r:id="rId22"/>
    <p:sldId id="319" r:id="rId23"/>
    <p:sldId id="320" r:id="rId24"/>
    <p:sldId id="321" r:id="rId25"/>
    <p:sldId id="312" r:id="rId26"/>
    <p:sldId id="323" r:id="rId27"/>
    <p:sldId id="313" r:id="rId28"/>
    <p:sldId id="314" r:id="rId29"/>
    <p:sldId id="315" r:id="rId30"/>
    <p:sldId id="316" r:id="rId31"/>
    <p:sldId id="317" r:id="rId32"/>
    <p:sldId id="324" r:id="rId33"/>
    <p:sldId id="301" r:id="rId34"/>
    <p:sldId id="296" r:id="rId35"/>
  </p:sldIdLst>
  <p:sldSz cx="18288000" cy="10287000"/>
  <p:notesSz cx="6858000" cy="9144000"/>
  <p:embeddedFontLst>
    <p:embeddedFont>
      <p:font typeface="Cambria Math" panose="02040503050406030204" pitchFamily="18" charset="0"/>
      <p:regular r:id="rId36"/>
    </p:embeddedFont>
    <p:embeddedFont>
      <p:font typeface="Helios Extended Bold" panose="020B0604020202020204" charset="0"/>
      <p:regular r:id="rId37"/>
    </p:embeddedFont>
    <p:embeddedFont>
      <p:font typeface="Calibri" panose="020F0502020204030204" pitchFamily="34" charset="0"/>
      <p:regular r:id="rId38"/>
      <p:bold r:id="rId39"/>
      <p:italic r:id="rId40"/>
      <p:boldItalic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78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538" y="190500"/>
            <a:ext cx="17982923" cy="9974917"/>
            <a:chOff x="0" y="0"/>
            <a:chExt cx="4736243" cy="26271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36243" cy="2627138"/>
            </a:xfrm>
            <a:custGeom>
              <a:avLst/>
              <a:gdLst/>
              <a:ahLst/>
              <a:cxnLst/>
              <a:rect l="l" t="t" r="r" b="b"/>
              <a:pathLst>
                <a:path w="4736243" h="2627138">
                  <a:moveTo>
                    <a:pt x="9902" y="0"/>
                  </a:moveTo>
                  <a:lnTo>
                    <a:pt x="4726341" y="0"/>
                  </a:lnTo>
                  <a:cubicBezTo>
                    <a:pt x="4731810" y="0"/>
                    <a:pt x="4736243" y="4433"/>
                    <a:pt x="4736243" y="9902"/>
                  </a:cubicBezTo>
                  <a:lnTo>
                    <a:pt x="4736243" y="2617237"/>
                  </a:lnTo>
                  <a:cubicBezTo>
                    <a:pt x="4736243" y="2619863"/>
                    <a:pt x="4735200" y="2622381"/>
                    <a:pt x="4733343" y="2624238"/>
                  </a:cubicBezTo>
                  <a:cubicBezTo>
                    <a:pt x="4731486" y="2626095"/>
                    <a:pt x="4728968" y="2627138"/>
                    <a:pt x="4726341" y="2627138"/>
                  </a:cubicBezTo>
                  <a:lnTo>
                    <a:pt x="9902" y="2627138"/>
                  </a:lnTo>
                  <a:cubicBezTo>
                    <a:pt x="7276" y="2627138"/>
                    <a:pt x="4757" y="2626095"/>
                    <a:pt x="2900" y="2624238"/>
                  </a:cubicBezTo>
                  <a:cubicBezTo>
                    <a:pt x="1043" y="2622381"/>
                    <a:pt x="0" y="2619863"/>
                    <a:pt x="0" y="2617237"/>
                  </a:cubicBezTo>
                  <a:lnTo>
                    <a:pt x="0" y="9902"/>
                  </a:lnTo>
                  <a:cubicBezTo>
                    <a:pt x="0" y="7276"/>
                    <a:pt x="1043" y="4757"/>
                    <a:pt x="2900" y="2900"/>
                  </a:cubicBezTo>
                  <a:cubicBezTo>
                    <a:pt x="4757" y="1043"/>
                    <a:pt x="7276" y="0"/>
                    <a:pt x="990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GH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736243" cy="26747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82442" y="3824091"/>
            <a:ext cx="16580315" cy="3224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ENGINEERING SCIENCES 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OF BASIC AND APPLIED SCIENCES 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 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SEMESTER 2024/2025 ACADEMIC YEAR </a:t>
            </a:r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B69966F7-8536-475C-B5BB-113A64D6D006}"/>
              </a:ext>
            </a:extLst>
          </p:cNvPr>
          <p:cNvSpPr txBox="1"/>
          <p:nvPr/>
        </p:nvSpPr>
        <p:spPr>
          <a:xfrm>
            <a:off x="3394223" y="7810500"/>
            <a:ext cx="11499551" cy="287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spc="90" dirty="0">
                <a:solidFill>
                  <a:srgbClr val="000000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COURSE CODE &amp; TITLE: CPEN 403 – EMBEDDED SYSTEMS  </a:t>
            </a:r>
          </a:p>
          <a:p>
            <a:pPr algn="ctr">
              <a:lnSpc>
                <a:spcPct val="150000"/>
              </a:lnSpc>
            </a:pPr>
            <a:r>
              <a:rPr lang="en-US" sz="2800" b="1" spc="90" dirty="0">
                <a:solidFill>
                  <a:srgbClr val="000000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COURSE INSTRUCTOR: DR. GODFREY MILLS  </a:t>
            </a:r>
          </a:p>
          <a:p>
            <a:pPr algn="ctr">
              <a:lnSpc>
                <a:spcPct val="150000"/>
              </a:lnSpc>
            </a:pPr>
            <a:r>
              <a:rPr lang="en-US" sz="2800" b="1" spc="90" dirty="0">
                <a:solidFill>
                  <a:srgbClr val="000000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TEACHING ASSISTANT: KELVIN BOATENG</a:t>
            </a:r>
          </a:p>
          <a:p>
            <a:pPr algn="ctr">
              <a:lnSpc>
                <a:spcPts val="2538"/>
              </a:lnSpc>
            </a:pPr>
            <a:r>
              <a:rPr lang="en-US" sz="2400" b="1" spc="90" dirty="0">
                <a:solidFill>
                  <a:srgbClr val="000000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 </a:t>
            </a:r>
          </a:p>
          <a:p>
            <a:pPr algn="l">
              <a:lnSpc>
                <a:spcPts val="2538"/>
              </a:lnSpc>
            </a:pPr>
            <a:r>
              <a:rPr lang="en-US" sz="1813" spc="90" dirty="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 </a:t>
            </a:r>
          </a:p>
          <a:p>
            <a:pPr marL="0" lvl="0" indent="0" algn="l">
              <a:lnSpc>
                <a:spcPts val="2538"/>
              </a:lnSpc>
            </a:pPr>
            <a:endParaRPr lang="en-US" sz="1813" spc="90" dirty="0">
              <a:solidFill>
                <a:srgbClr val="000000"/>
              </a:solidFill>
              <a:latin typeface="Helios Extended Bold"/>
              <a:ea typeface="Helios Extended Bold"/>
              <a:cs typeface="Helios Extended Bold"/>
              <a:sym typeface="Helios Extended Bold"/>
            </a:endParaRPr>
          </a:p>
        </p:txBody>
      </p:sp>
      <p:sp>
        <p:nvSpPr>
          <p:cNvPr id="28" name="Freeform 15">
            <a:extLst>
              <a:ext uri="{FF2B5EF4-FFF2-40B4-BE49-F238E27FC236}">
                <a16:creationId xmlns:a16="http://schemas.microsoft.com/office/drawing/2014/main" id="{BFAD5623-9B91-4520-9607-0802466E719E}"/>
              </a:ext>
            </a:extLst>
          </p:cNvPr>
          <p:cNvSpPr/>
          <p:nvPr/>
        </p:nvSpPr>
        <p:spPr>
          <a:xfrm>
            <a:off x="8077200" y="707178"/>
            <a:ext cx="2971799" cy="2912322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538" y="189466"/>
            <a:ext cx="17982923" cy="9974917"/>
            <a:chOff x="0" y="0"/>
            <a:chExt cx="4736243" cy="26271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36243" cy="2627138"/>
            </a:xfrm>
            <a:custGeom>
              <a:avLst/>
              <a:gdLst/>
              <a:ahLst/>
              <a:cxnLst/>
              <a:rect l="l" t="t" r="r" b="b"/>
              <a:pathLst>
                <a:path w="4736243" h="2627138">
                  <a:moveTo>
                    <a:pt x="9902" y="0"/>
                  </a:moveTo>
                  <a:lnTo>
                    <a:pt x="4726341" y="0"/>
                  </a:lnTo>
                  <a:cubicBezTo>
                    <a:pt x="4731810" y="0"/>
                    <a:pt x="4736243" y="4433"/>
                    <a:pt x="4736243" y="9902"/>
                  </a:cubicBezTo>
                  <a:lnTo>
                    <a:pt x="4736243" y="2617237"/>
                  </a:lnTo>
                  <a:cubicBezTo>
                    <a:pt x="4736243" y="2619863"/>
                    <a:pt x="4735200" y="2622381"/>
                    <a:pt x="4733343" y="2624238"/>
                  </a:cubicBezTo>
                  <a:cubicBezTo>
                    <a:pt x="4731486" y="2626095"/>
                    <a:pt x="4728968" y="2627138"/>
                    <a:pt x="4726341" y="2627138"/>
                  </a:cubicBezTo>
                  <a:lnTo>
                    <a:pt x="9902" y="2627138"/>
                  </a:lnTo>
                  <a:cubicBezTo>
                    <a:pt x="7276" y="2627138"/>
                    <a:pt x="4757" y="2626095"/>
                    <a:pt x="2900" y="2624238"/>
                  </a:cubicBezTo>
                  <a:cubicBezTo>
                    <a:pt x="1043" y="2622381"/>
                    <a:pt x="0" y="2619863"/>
                    <a:pt x="0" y="2617237"/>
                  </a:cubicBezTo>
                  <a:lnTo>
                    <a:pt x="0" y="9902"/>
                  </a:lnTo>
                  <a:cubicBezTo>
                    <a:pt x="0" y="7276"/>
                    <a:pt x="1043" y="4757"/>
                    <a:pt x="2900" y="2900"/>
                  </a:cubicBezTo>
                  <a:cubicBezTo>
                    <a:pt x="4757" y="1043"/>
                    <a:pt x="7276" y="0"/>
                    <a:pt x="990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GH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736243" cy="26747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82440" y="3259978"/>
            <a:ext cx="16580315" cy="2343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SECURITY 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 SYSTEM USING LDR</a:t>
            </a:r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B69966F7-8536-475C-B5BB-113A64D6D006}"/>
              </a:ext>
            </a:extLst>
          </p:cNvPr>
          <p:cNvSpPr txBox="1"/>
          <p:nvPr/>
        </p:nvSpPr>
        <p:spPr>
          <a:xfrm>
            <a:off x="3886200" y="6173334"/>
            <a:ext cx="11499551" cy="1885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spc="90" dirty="0" smtClean="0">
                <a:solidFill>
                  <a:srgbClr val="000000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Adika </a:t>
            </a:r>
            <a:r>
              <a:rPr lang="en-US" sz="4000" b="1" spc="90" dirty="0">
                <a:solidFill>
                  <a:srgbClr val="000000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Nathaniel - 10957036 </a:t>
            </a:r>
          </a:p>
          <a:p>
            <a:pPr algn="ctr">
              <a:lnSpc>
                <a:spcPts val="2538"/>
              </a:lnSpc>
            </a:pPr>
            <a:r>
              <a:rPr lang="en-US" sz="3600" b="1" spc="90" dirty="0">
                <a:solidFill>
                  <a:srgbClr val="000000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 </a:t>
            </a:r>
          </a:p>
          <a:p>
            <a:pPr algn="l">
              <a:lnSpc>
                <a:spcPts val="2538"/>
              </a:lnSpc>
            </a:pPr>
            <a:r>
              <a:rPr lang="en-US" sz="2800" spc="90" dirty="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 </a:t>
            </a:r>
          </a:p>
          <a:p>
            <a:pPr marL="0" lvl="0" indent="0" algn="l">
              <a:lnSpc>
                <a:spcPts val="2538"/>
              </a:lnSpc>
            </a:pPr>
            <a:endParaRPr lang="en-US" sz="2800" spc="90" dirty="0">
              <a:solidFill>
                <a:srgbClr val="000000"/>
              </a:solidFill>
              <a:latin typeface="Helios Extended Bold"/>
              <a:ea typeface="Helios Extended Bold"/>
              <a:cs typeface="Helios Extended Bold"/>
              <a:sym typeface="Helios Extended Bold"/>
            </a:endParaRPr>
          </a:p>
        </p:txBody>
      </p:sp>
      <p:sp>
        <p:nvSpPr>
          <p:cNvPr id="28" name="Freeform 15">
            <a:extLst>
              <a:ext uri="{FF2B5EF4-FFF2-40B4-BE49-F238E27FC236}">
                <a16:creationId xmlns:a16="http://schemas.microsoft.com/office/drawing/2014/main" id="{BFAD5623-9B91-4520-9607-0802466E719E}"/>
              </a:ext>
            </a:extLst>
          </p:cNvPr>
          <p:cNvSpPr/>
          <p:nvPr/>
        </p:nvSpPr>
        <p:spPr>
          <a:xfrm>
            <a:off x="7696200" y="190500"/>
            <a:ext cx="2971799" cy="2912322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101958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240162" y="402835"/>
            <a:ext cx="5791200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ECFD4BD3-FBFB-415A-8554-DD5274CC2AFD}"/>
              </a:ext>
            </a:extLst>
          </p:cNvPr>
          <p:cNvSpPr txBox="1"/>
          <p:nvPr/>
        </p:nvSpPr>
        <p:spPr>
          <a:xfrm>
            <a:off x="1806026" y="3530728"/>
            <a:ext cx="1851574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7200" b="1" spc="300" dirty="0">
                <a:solidFill>
                  <a:srgbClr val="6600CC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02</a:t>
            </a:r>
          </a:p>
        </p:txBody>
      </p:sp>
      <p:sp>
        <p:nvSpPr>
          <p:cNvPr id="16" name="TextBox 3">
            <a:extLst>
              <a:ext uri="{FF2B5EF4-FFF2-40B4-BE49-F238E27FC236}">
                <a16:creationId xmlns:a16="http://schemas.microsoft.com/office/drawing/2014/main" id="{E9AEEBFB-C081-4270-B2AE-3E6DEDB96C0A}"/>
              </a:ext>
            </a:extLst>
          </p:cNvPr>
          <p:cNvSpPr txBox="1"/>
          <p:nvPr/>
        </p:nvSpPr>
        <p:spPr>
          <a:xfrm>
            <a:off x="8218213" y="1621615"/>
            <a:ext cx="1851574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7200" b="1" spc="300" dirty="0">
                <a:solidFill>
                  <a:srgbClr val="6600CC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05</a:t>
            </a:r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0EB04DD4-93F2-4408-A5A7-318C5D3D33C3}"/>
              </a:ext>
            </a:extLst>
          </p:cNvPr>
          <p:cNvSpPr txBox="1"/>
          <p:nvPr/>
        </p:nvSpPr>
        <p:spPr>
          <a:xfrm>
            <a:off x="1806026" y="5639202"/>
            <a:ext cx="1851574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7200" b="1" spc="300" dirty="0">
                <a:solidFill>
                  <a:srgbClr val="6600CC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03</a:t>
            </a:r>
          </a:p>
        </p:txBody>
      </p:sp>
      <p:sp>
        <p:nvSpPr>
          <p:cNvPr id="19" name="TextBox 3">
            <a:extLst>
              <a:ext uri="{FF2B5EF4-FFF2-40B4-BE49-F238E27FC236}">
                <a16:creationId xmlns:a16="http://schemas.microsoft.com/office/drawing/2014/main" id="{CDDC8A24-405A-4BBF-BFF9-04CFE579518E}"/>
              </a:ext>
            </a:extLst>
          </p:cNvPr>
          <p:cNvSpPr txBox="1"/>
          <p:nvPr/>
        </p:nvSpPr>
        <p:spPr>
          <a:xfrm>
            <a:off x="1806026" y="7687403"/>
            <a:ext cx="1851574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7200" b="1" spc="300" dirty="0">
                <a:solidFill>
                  <a:srgbClr val="6600CC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04</a:t>
            </a: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27CD6648-91B6-4AB8-9B64-B77C2920FC74}"/>
              </a:ext>
            </a:extLst>
          </p:cNvPr>
          <p:cNvSpPr txBox="1"/>
          <p:nvPr/>
        </p:nvSpPr>
        <p:spPr>
          <a:xfrm>
            <a:off x="8218213" y="3530728"/>
            <a:ext cx="1851574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7200" b="1" spc="300" dirty="0">
                <a:solidFill>
                  <a:srgbClr val="6600CC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06</a:t>
            </a: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0F35010A-842D-4D73-9EC0-23CDBD0A945F}"/>
              </a:ext>
            </a:extLst>
          </p:cNvPr>
          <p:cNvSpPr txBox="1"/>
          <p:nvPr/>
        </p:nvSpPr>
        <p:spPr>
          <a:xfrm>
            <a:off x="1806026" y="1552071"/>
            <a:ext cx="1851574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7200" b="1" spc="300" dirty="0">
                <a:solidFill>
                  <a:srgbClr val="6600CC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01</a:t>
            </a:r>
          </a:p>
        </p:txBody>
      </p:sp>
      <p:sp>
        <p:nvSpPr>
          <p:cNvPr id="22" name="TextBox 3">
            <a:extLst>
              <a:ext uri="{FF2B5EF4-FFF2-40B4-BE49-F238E27FC236}">
                <a16:creationId xmlns:a16="http://schemas.microsoft.com/office/drawing/2014/main" id="{D5FDAF7E-C175-4C0F-B07A-74AB2C61340A}"/>
              </a:ext>
            </a:extLst>
          </p:cNvPr>
          <p:cNvSpPr txBox="1"/>
          <p:nvPr/>
        </p:nvSpPr>
        <p:spPr>
          <a:xfrm>
            <a:off x="8209975" y="5679055"/>
            <a:ext cx="1851574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7200" b="1" spc="300" dirty="0">
                <a:solidFill>
                  <a:srgbClr val="6600CC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07</a:t>
            </a:r>
          </a:p>
        </p:txBody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573391ED-0A51-4C4D-9065-72D37019772A}"/>
              </a:ext>
            </a:extLst>
          </p:cNvPr>
          <p:cNvSpPr txBox="1"/>
          <p:nvPr/>
        </p:nvSpPr>
        <p:spPr>
          <a:xfrm>
            <a:off x="8209975" y="7687403"/>
            <a:ext cx="1851574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7200" b="1" spc="300" dirty="0">
                <a:solidFill>
                  <a:srgbClr val="6600CC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08</a:t>
            </a:r>
          </a:p>
        </p:txBody>
      </p:sp>
      <p:sp>
        <p:nvSpPr>
          <p:cNvPr id="25" name="TextBox 3">
            <a:extLst>
              <a:ext uri="{FF2B5EF4-FFF2-40B4-BE49-F238E27FC236}">
                <a16:creationId xmlns:a16="http://schemas.microsoft.com/office/drawing/2014/main" id="{7D9A40D5-42A7-4ADA-A592-F7401AB03BC2}"/>
              </a:ext>
            </a:extLst>
          </p:cNvPr>
          <p:cNvSpPr txBox="1"/>
          <p:nvPr/>
        </p:nvSpPr>
        <p:spPr>
          <a:xfrm>
            <a:off x="15099824" y="1552071"/>
            <a:ext cx="1851574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7200" b="1" spc="300" dirty="0">
                <a:solidFill>
                  <a:srgbClr val="6600CC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09</a:t>
            </a:r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F17D634F-631F-4FC7-B263-70343815C7EE}"/>
              </a:ext>
            </a:extLst>
          </p:cNvPr>
          <p:cNvSpPr txBox="1"/>
          <p:nvPr/>
        </p:nvSpPr>
        <p:spPr>
          <a:xfrm>
            <a:off x="15099824" y="3461184"/>
            <a:ext cx="1851574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7200" b="1" spc="300" dirty="0">
                <a:solidFill>
                  <a:srgbClr val="6600CC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10</a:t>
            </a:r>
          </a:p>
        </p:txBody>
      </p:sp>
      <p:sp>
        <p:nvSpPr>
          <p:cNvPr id="28" name="TextBox 3">
            <a:extLst>
              <a:ext uri="{FF2B5EF4-FFF2-40B4-BE49-F238E27FC236}">
                <a16:creationId xmlns:a16="http://schemas.microsoft.com/office/drawing/2014/main" id="{8C7A27E0-A860-4B53-8F29-79CFF902CC8C}"/>
              </a:ext>
            </a:extLst>
          </p:cNvPr>
          <p:cNvSpPr txBox="1"/>
          <p:nvPr/>
        </p:nvSpPr>
        <p:spPr>
          <a:xfrm>
            <a:off x="15099824" y="5724510"/>
            <a:ext cx="1851574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7200" b="1" spc="300" dirty="0">
                <a:solidFill>
                  <a:srgbClr val="6600CC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11</a:t>
            </a:r>
          </a:p>
        </p:txBody>
      </p:sp>
      <p:sp>
        <p:nvSpPr>
          <p:cNvPr id="29" name="TextBox 13">
            <a:extLst>
              <a:ext uri="{FF2B5EF4-FFF2-40B4-BE49-F238E27FC236}">
                <a16:creationId xmlns:a16="http://schemas.microsoft.com/office/drawing/2014/main" id="{0F5D7B2C-617D-4133-8D83-803DCAFB0FC2}"/>
              </a:ext>
            </a:extLst>
          </p:cNvPr>
          <p:cNvSpPr txBox="1"/>
          <p:nvPr/>
        </p:nvSpPr>
        <p:spPr>
          <a:xfrm>
            <a:off x="-304800" y="2732249"/>
            <a:ext cx="57912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219"/>
              </a:lnSpc>
            </a:pPr>
            <a:r>
              <a:rPr lang="en-US" sz="3200" b="1" spc="229" dirty="0">
                <a:solidFill>
                  <a:srgbClr val="000000"/>
                </a:solidFill>
                <a:latin typeface="Times New Roman" panose="02020603050405020304" pitchFamily="18" charset="0"/>
                <a:ea typeface="Heebo Bold"/>
                <a:cs typeface="Times New Roman" panose="02020603050405020304" pitchFamily="18" charset="0"/>
                <a:sym typeface="Heebo Bold"/>
              </a:rPr>
              <a:t>Introduction &amp; Project definition</a:t>
            </a: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E00F52FD-D463-4B89-963C-D4F3F10D0BCC}"/>
              </a:ext>
            </a:extLst>
          </p:cNvPr>
          <p:cNvSpPr txBox="1"/>
          <p:nvPr/>
        </p:nvSpPr>
        <p:spPr>
          <a:xfrm>
            <a:off x="-690743" y="4806881"/>
            <a:ext cx="579120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219"/>
              </a:lnSpc>
            </a:pPr>
            <a:r>
              <a:rPr lang="en-US" sz="3200" b="1" spc="229" dirty="0">
                <a:solidFill>
                  <a:srgbClr val="000000"/>
                </a:solidFill>
                <a:latin typeface="Times New Roman" panose="02020603050405020304" pitchFamily="18" charset="0"/>
                <a:ea typeface="Heebo Bold"/>
                <a:cs typeface="Times New Roman" panose="02020603050405020304" pitchFamily="18" charset="0"/>
                <a:sym typeface="Heebo Bold"/>
              </a:rPr>
              <a:t>Design Objectives</a:t>
            </a: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431576EF-B41B-40B7-812A-AA8C39C0E74A}"/>
              </a:ext>
            </a:extLst>
          </p:cNvPr>
          <p:cNvSpPr txBox="1"/>
          <p:nvPr/>
        </p:nvSpPr>
        <p:spPr>
          <a:xfrm>
            <a:off x="37622" y="6684962"/>
            <a:ext cx="57912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219"/>
              </a:lnSpc>
            </a:pPr>
            <a:r>
              <a:rPr lang="en-US" sz="3200" b="1" spc="229" dirty="0">
                <a:solidFill>
                  <a:srgbClr val="000000"/>
                </a:solidFill>
                <a:latin typeface="Times New Roman" panose="02020603050405020304" pitchFamily="18" charset="0"/>
                <a:ea typeface="Heebo Bold"/>
                <a:cs typeface="Times New Roman" panose="02020603050405020304" pitchFamily="18" charset="0"/>
                <a:sym typeface="Heebo Bold"/>
              </a:rPr>
              <a:t>System Functions, Inputs &amp; Outputs</a:t>
            </a:r>
          </a:p>
        </p:txBody>
      </p:sp>
      <p:sp>
        <p:nvSpPr>
          <p:cNvPr id="32" name="TextBox 13">
            <a:extLst>
              <a:ext uri="{FF2B5EF4-FFF2-40B4-BE49-F238E27FC236}">
                <a16:creationId xmlns:a16="http://schemas.microsoft.com/office/drawing/2014/main" id="{7B4B777C-7539-4088-BB48-7E1905E6C0FD}"/>
              </a:ext>
            </a:extLst>
          </p:cNvPr>
          <p:cNvSpPr txBox="1"/>
          <p:nvPr/>
        </p:nvSpPr>
        <p:spPr>
          <a:xfrm>
            <a:off x="37622" y="8742362"/>
            <a:ext cx="57912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219"/>
              </a:lnSpc>
            </a:pPr>
            <a:r>
              <a:rPr lang="en-US" sz="3200" b="1" spc="229" dirty="0">
                <a:solidFill>
                  <a:srgbClr val="000000"/>
                </a:solidFill>
                <a:latin typeface="Times New Roman" panose="02020603050405020304" pitchFamily="18" charset="0"/>
                <a:ea typeface="Heebo Bold"/>
                <a:cs typeface="Times New Roman" panose="02020603050405020304" pitchFamily="18" charset="0"/>
                <a:sym typeface="Heebo Bold"/>
              </a:rPr>
              <a:t>Architectural Diagram &amp; Components</a:t>
            </a: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2670EF86-1273-4C63-8131-610EB4A5FA65}"/>
              </a:ext>
            </a:extLst>
          </p:cNvPr>
          <p:cNvSpPr txBox="1"/>
          <p:nvPr/>
        </p:nvSpPr>
        <p:spPr>
          <a:xfrm>
            <a:off x="5867400" y="2628900"/>
            <a:ext cx="57912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219"/>
              </a:lnSpc>
            </a:pPr>
            <a:r>
              <a:rPr lang="en-US" sz="3200" b="1" spc="229" dirty="0">
                <a:solidFill>
                  <a:srgbClr val="000000"/>
                </a:solidFill>
                <a:latin typeface="Times New Roman" panose="02020603050405020304" pitchFamily="18" charset="0"/>
                <a:ea typeface="Heebo Bold"/>
                <a:cs typeface="Times New Roman" panose="02020603050405020304" pitchFamily="18" charset="0"/>
                <a:sym typeface="Heebo Bold"/>
              </a:rPr>
              <a:t>System Operational Flow Diagram</a:t>
            </a:r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B376CBA5-5C07-4777-9A83-95B669934060}"/>
              </a:ext>
            </a:extLst>
          </p:cNvPr>
          <p:cNvSpPr txBox="1"/>
          <p:nvPr/>
        </p:nvSpPr>
        <p:spPr>
          <a:xfrm>
            <a:off x="6019800" y="4686300"/>
            <a:ext cx="57912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219"/>
              </a:lnSpc>
            </a:pPr>
            <a:r>
              <a:rPr lang="en-US" sz="3200" b="1" spc="229" dirty="0">
                <a:solidFill>
                  <a:srgbClr val="000000"/>
                </a:solidFill>
                <a:latin typeface="Times New Roman" panose="02020603050405020304" pitchFamily="18" charset="0"/>
                <a:ea typeface="Heebo Bold"/>
                <a:cs typeface="Times New Roman" panose="02020603050405020304" pitchFamily="18" charset="0"/>
                <a:sym typeface="Heebo Bold"/>
              </a:rPr>
              <a:t>System Specs, Req. &amp; constraints</a:t>
            </a: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3DF85F94-9284-4C85-A892-441403D2B08E}"/>
              </a:ext>
            </a:extLst>
          </p:cNvPr>
          <p:cNvSpPr txBox="1"/>
          <p:nvPr/>
        </p:nvSpPr>
        <p:spPr>
          <a:xfrm>
            <a:off x="6248400" y="6819900"/>
            <a:ext cx="57912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219"/>
              </a:lnSpc>
            </a:pPr>
            <a:r>
              <a:rPr lang="en-US" sz="3200" b="1" spc="229" dirty="0">
                <a:solidFill>
                  <a:srgbClr val="000000"/>
                </a:solidFill>
                <a:latin typeface="Times New Roman" panose="02020603050405020304" pitchFamily="18" charset="0"/>
                <a:ea typeface="Heebo Bold"/>
                <a:cs typeface="Times New Roman" panose="02020603050405020304" pitchFamily="18" charset="0"/>
                <a:sym typeface="Heebo Bold"/>
              </a:rPr>
              <a:t>Hardware Schematic Diagram</a:t>
            </a:r>
          </a:p>
        </p:txBody>
      </p:sp>
      <p:sp>
        <p:nvSpPr>
          <p:cNvPr id="36" name="TextBox 13">
            <a:extLst>
              <a:ext uri="{FF2B5EF4-FFF2-40B4-BE49-F238E27FC236}">
                <a16:creationId xmlns:a16="http://schemas.microsoft.com/office/drawing/2014/main" id="{AC8BB1D1-09A3-4498-8B59-E2180CDFC9DC}"/>
              </a:ext>
            </a:extLst>
          </p:cNvPr>
          <p:cNvSpPr txBox="1"/>
          <p:nvPr/>
        </p:nvSpPr>
        <p:spPr>
          <a:xfrm>
            <a:off x="6324600" y="8742362"/>
            <a:ext cx="57912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219"/>
              </a:lnSpc>
            </a:pPr>
            <a:r>
              <a:rPr lang="en-US" sz="3200" b="1" spc="229" dirty="0">
                <a:solidFill>
                  <a:srgbClr val="000000"/>
                </a:solidFill>
                <a:latin typeface="Times New Roman" panose="02020603050405020304" pitchFamily="18" charset="0"/>
                <a:ea typeface="Heebo Bold"/>
                <a:cs typeface="Times New Roman" panose="02020603050405020304" pitchFamily="18" charset="0"/>
                <a:sym typeface="Heebo Bold"/>
              </a:rPr>
              <a:t>Software Logic Flow Diagram</a:t>
            </a: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700A5FAA-3335-4C95-BFBD-4464FDAC83AF}"/>
              </a:ext>
            </a:extLst>
          </p:cNvPr>
          <p:cNvSpPr txBox="1"/>
          <p:nvPr/>
        </p:nvSpPr>
        <p:spPr>
          <a:xfrm>
            <a:off x="12496800" y="2743421"/>
            <a:ext cx="57912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219"/>
              </a:lnSpc>
            </a:pPr>
            <a:r>
              <a:rPr lang="en-US" sz="3200" b="1" spc="229" dirty="0">
                <a:solidFill>
                  <a:srgbClr val="000000"/>
                </a:solidFill>
                <a:latin typeface="Times New Roman" panose="02020603050405020304" pitchFamily="18" charset="0"/>
                <a:ea typeface="Heebo Bold"/>
                <a:cs typeface="Times New Roman" panose="02020603050405020304" pitchFamily="18" charset="0"/>
                <a:sym typeface="Heebo Bold"/>
              </a:rPr>
              <a:t>Implementation, Testing &amp; Evaluation</a:t>
            </a:r>
          </a:p>
        </p:txBody>
      </p:sp>
      <p:sp>
        <p:nvSpPr>
          <p:cNvPr id="38" name="TextBox 13">
            <a:extLst>
              <a:ext uri="{FF2B5EF4-FFF2-40B4-BE49-F238E27FC236}">
                <a16:creationId xmlns:a16="http://schemas.microsoft.com/office/drawing/2014/main" id="{94A96C71-85C4-4C33-9124-69B7FC27D3C4}"/>
              </a:ext>
            </a:extLst>
          </p:cNvPr>
          <p:cNvSpPr txBox="1"/>
          <p:nvPr/>
        </p:nvSpPr>
        <p:spPr>
          <a:xfrm>
            <a:off x="12496800" y="4856162"/>
            <a:ext cx="579120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219"/>
              </a:lnSpc>
            </a:pPr>
            <a:r>
              <a:rPr lang="en-US" sz="3200" b="1" spc="229" dirty="0">
                <a:solidFill>
                  <a:srgbClr val="000000"/>
                </a:solidFill>
                <a:latin typeface="Times New Roman" panose="02020603050405020304" pitchFamily="18" charset="0"/>
                <a:ea typeface="Heebo Bold"/>
                <a:cs typeface="Times New Roman" panose="02020603050405020304" pitchFamily="18" charset="0"/>
                <a:sym typeface="Heebo Bold"/>
              </a:rPr>
              <a:t>Conclusion &amp; Future work</a:t>
            </a:r>
          </a:p>
        </p:txBody>
      </p:sp>
      <p:sp>
        <p:nvSpPr>
          <p:cNvPr id="39" name="TextBox 13">
            <a:extLst>
              <a:ext uri="{FF2B5EF4-FFF2-40B4-BE49-F238E27FC236}">
                <a16:creationId xmlns:a16="http://schemas.microsoft.com/office/drawing/2014/main" id="{C8459337-C4DA-4540-B01F-365BDCB30AEC}"/>
              </a:ext>
            </a:extLst>
          </p:cNvPr>
          <p:cNvSpPr txBox="1"/>
          <p:nvPr/>
        </p:nvSpPr>
        <p:spPr>
          <a:xfrm>
            <a:off x="12496800" y="6913562"/>
            <a:ext cx="579120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219"/>
              </a:lnSpc>
            </a:pPr>
            <a:r>
              <a:rPr lang="en-US" sz="3200" b="1" spc="229" dirty="0">
                <a:solidFill>
                  <a:srgbClr val="000000"/>
                </a:solidFill>
                <a:latin typeface="Times New Roman" panose="02020603050405020304" pitchFamily="18" charset="0"/>
                <a:ea typeface="Heebo Bold"/>
                <a:cs typeface="Times New Roman" panose="02020603050405020304" pitchFamily="18" charset="0"/>
                <a:sym typeface="Heebo Bold"/>
              </a:rPr>
              <a:t>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538" y="104129"/>
            <a:ext cx="963737" cy="1118339"/>
          </a:xfrm>
          <a:custGeom>
            <a:avLst/>
            <a:gdLst/>
            <a:ahLst/>
            <a:cxnLst/>
            <a:rect l="l" t="t" r="r" b="b"/>
            <a:pathLst>
              <a:path w="963737" h="1118339">
                <a:moveTo>
                  <a:pt x="0" y="0"/>
                </a:moveTo>
                <a:lnTo>
                  <a:pt x="963737" y="0"/>
                </a:lnTo>
                <a:lnTo>
                  <a:pt x="963737" y="1118339"/>
                </a:lnTo>
                <a:lnTo>
                  <a:pt x="0" y="11183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sp>
        <p:nvSpPr>
          <p:cNvPr id="4" name="TextBox 4"/>
          <p:cNvSpPr txBox="1"/>
          <p:nvPr/>
        </p:nvSpPr>
        <p:spPr>
          <a:xfrm>
            <a:off x="1447800" y="309045"/>
            <a:ext cx="17892366" cy="9113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644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10101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And Project Definition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C626201-D3E4-469A-9A95-AF5E4AA777ED}"/>
              </a:ext>
            </a:extLst>
          </p:cNvPr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EB815542-56CE-4F55-ADD9-72788B1F1638}"/>
                </a:ext>
              </a:extLst>
            </p:cNvPr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1B0CE6A-73FB-479C-A8B4-F0065EF4BD31}"/>
                </a:ext>
              </a:extLst>
            </p:cNvPr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5">
            <a:extLst>
              <a:ext uri="{FF2B5EF4-FFF2-40B4-BE49-F238E27FC236}">
                <a16:creationId xmlns:a16="http://schemas.microsoft.com/office/drawing/2014/main" id="{DF833910-A236-45DF-A81B-546AFCA4D1C1}"/>
              </a:ext>
            </a:extLst>
          </p:cNvPr>
          <p:cNvSpPr txBox="1"/>
          <p:nvPr/>
        </p:nvSpPr>
        <p:spPr>
          <a:xfrm>
            <a:off x="1030253" y="1679977"/>
            <a:ext cx="16227493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lvl="1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involves designing an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intruder detection system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an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LDR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motion based on light intensity changes. A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555 timer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simulates natural frequency variations of the LDR, while an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processes signals and controls outputs. The system minimizes false alarms by filtering noise and features an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 for status updates, LEDs for visual alerts, and a buzzer for sound alerts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Simulation is done in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Proteus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considering real-world feasibility and its frequency limitations.</a:t>
            </a:r>
          </a:p>
          <a:p>
            <a:pPr lvl="1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Embedded Systems?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Compact, real-time, power-efficient.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Timers, PWM, ADC, and Interrupts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optimal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23082" y="101972"/>
            <a:ext cx="9781728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Objectives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7BFA6755-26A0-4232-8E2E-12D6079D63B7}"/>
              </a:ext>
            </a:extLst>
          </p:cNvPr>
          <p:cNvSpPr txBox="1"/>
          <p:nvPr/>
        </p:nvSpPr>
        <p:spPr>
          <a:xfrm>
            <a:off x="1600200" y="2120718"/>
            <a:ext cx="16227493" cy="6155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Objective: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Accurately detect changes in ambient light intensity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an LDR and trigger alarms reliably.</a:t>
            </a: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Objectives: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processing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ADC and filtering.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hysteresis logic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avoid false alarms.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detection data in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EEPROM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retrieval.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power with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low-power sleep mode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an LCD and button interaction.</a:t>
            </a:r>
          </a:p>
        </p:txBody>
      </p:sp>
    </p:spTree>
    <p:extLst>
      <p:ext uri="{BB962C8B-B14F-4D97-AF65-F5344CB8AC3E}">
        <p14:creationId xmlns:p14="http://schemas.microsoft.com/office/powerpoint/2010/main" val="2169014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62200" y="104129"/>
            <a:ext cx="16535400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Functions, Inputs </a:t>
            </a: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 Outputs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7BFA6755-26A0-4232-8E2E-12D6079D63B7}"/>
              </a:ext>
            </a:extLst>
          </p:cNvPr>
          <p:cNvSpPr txBox="1"/>
          <p:nvPr/>
        </p:nvSpPr>
        <p:spPr>
          <a:xfrm>
            <a:off x="1524000" y="2222993"/>
            <a:ext cx="16227493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Functions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Sensing: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LDR continuously measures light intensity.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Biquad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filter reduces noise and unwanted frequency components.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Hysteresis logic determines threshold crossing.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Alarm Activation: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Buzzer sounds &amp; LED blinks on detection.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Display: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LCD provides real-time system status.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Logging: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EEPROM stores event count &amp; detection time.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Interaction: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Button press retrieves stored data.</a:t>
            </a:r>
          </a:p>
        </p:txBody>
      </p:sp>
    </p:spTree>
    <p:extLst>
      <p:ext uri="{BB962C8B-B14F-4D97-AF65-F5344CB8AC3E}">
        <p14:creationId xmlns:p14="http://schemas.microsoft.com/office/powerpoint/2010/main" val="3582573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62200" y="104129"/>
            <a:ext cx="16535400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Functions, Inputs </a:t>
            </a: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 Outputs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7BFA6755-26A0-4232-8E2E-12D6079D63B7}"/>
              </a:ext>
            </a:extLst>
          </p:cNvPr>
          <p:cNvSpPr txBox="1"/>
          <p:nvPr/>
        </p:nvSpPr>
        <p:spPr>
          <a:xfrm>
            <a:off x="876300" y="1790700"/>
            <a:ext cx="16535400" cy="6155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 &amp; Outputs</a:t>
            </a:r>
          </a:p>
          <a:p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LDR Sensor Signal: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Analog voltage based on light levels.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Push-Button Input: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requests stored detection count/time.</a:t>
            </a:r>
          </a:p>
          <a:p>
            <a:pPr lvl="1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 (PWM modulated):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Generates alarm sound.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LEDs: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 LED blinks in alarm mode, green LED stays on in normal mode.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“Status: Normal” or “ALARM: DETECTED.”</a:t>
            </a:r>
          </a:p>
        </p:txBody>
      </p:sp>
    </p:spTree>
    <p:extLst>
      <p:ext uri="{BB962C8B-B14F-4D97-AF65-F5344CB8AC3E}">
        <p14:creationId xmlns:p14="http://schemas.microsoft.com/office/powerpoint/2010/main" val="3929071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62200" y="104129"/>
            <a:ext cx="16535400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Diagram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4150A9-99D3-4127-9BA3-96A204BF52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056" y="1595437"/>
            <a:ext cx="15709544" cy="802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324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76617" y="104129"/>
            <a:ext cx="7224583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174E1F32-7292-4B72-B362-72AC00E6EB6C}"/>
              </a:ext>
            </a:extLst>
          </p:cNvPr>
          <p:cNvSpPr txBox="1"/>
          <p:nvPr/>
        </p:nvSpPr>
        <p:spPr>
          <a:xfrm>
            <a:off x="2362201" y="2371184"/>
            <a:ext cx="13335000" cy="4506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(Arduino/STM32F4)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LDR Sensor Circuit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Comparator (Op-Amp LM358)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 Display (16×2 or OLED)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 &amp; LEDs</a:t>
            </a:r>
          </a:p>
        </p:txBody>
      </p:sp>
    </p:spTree>
    <p:extLst>
      <p:ext uri="{BB962C8B-B14F-4D97-AF65-F5344CB8AC3E}">
        <p14:creationId xmlns:p14="http://schemas.microsoft.com/office/powerpoint/2010/main" val="780020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62200" y="-190500"/>
            <a:ext cx="12192000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Operational Flow diagram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10182871"/>
            <a:ext cx="18288000" cy="104129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3C9819-EEF9-4723-9EF0-81CDECDFF8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1006754"/>
            <a:ext cx="13487400" cy="917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47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83056" y="0"/>
            <a:ext cx="16852406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specifications, Requirements </a:t>
            </a: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Constraints 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7BFA6755-26A0-4232-8E2E-12D6079D63B7}"/>
              </a:ext>
            </a:extLst>
          </p:cNvPr>
          <p:cNvSpPr txBox="1"/>
          <p:nvPr/>
        </p:nvSpPr>
        <p:spPr>
          <a:xfrm>
            <a:off x="1595512" y="2019300"/>
            <a:ext cx="16227493" cy="4506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Specifications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5V regulated, stable operation for all components.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ADC Sampling Rate: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 Hz for accurate detection.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 Frequency: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400–600 Hz, modulated for alarm effect.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EEPROM Storage: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count &amp; timestamp persistence</a:t>
            </a:r>
          </a:p>
        </p:txBody>
      </p:sp>
    </p:spTree>
    <p:extLst>
      <p:ext uri="{BB962C8B-B14F-4D97-AF65-F5344CB8AC3E}">
        <p14:creationId xmlns:p14="http://schemas.microsoft.com/office/powerpoint/2010/main" val="1946827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83056" y="0"/>
            <a:ext cx="16852406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specifications, Requirements </a:t>
            </a: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Constraints 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7BFA6755-26A0-4232-8E2E-12D6079D63B7}"/>
              </a:ext>
            </a:extLst>
          </p:cNvPr>
          <p:cNvSpPr txBox="1"/>
          <p:nvPr/>
        </p:nvSpPr>
        <p:spPr>
          <a:xfrm>
            <a:off x="1595512" y="2019300"/>
            <a:ext cx="16227493" cy="4506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&amp; Performance Requirements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light changes accurately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trigger an alarm for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seconds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out noise frequencies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6Hz) to prevent false alarms.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Watchdog Timer ensures system resets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the loop hangs.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EEPROM storage must persist detection history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 after power loss.</a:t>
            </a:r>
          </a:p>
        </p:txBody>
      </p:sp>
    </p:spTree>
    <p:extLst>
      <p:ext uri="{BB962C8B-B14F-4D97-AF65-F5344CB8AC3E}">
        <p14:creationId xmlns:p14="http://schemas.microsoft.com/office/powerpoint/2010/main" val="1897709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83056" y="0"/>
            <a:ext cx="16852406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specifications, Requirements </a:t>
            </a: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Constraints 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BB57E8-9F08-434A-A484-DE14EB18B94D}"/>
              </a:ext>
            </a:extLst>
          </p:cNvPr>
          <p:cNvSpPr txBox="1"/>
          <p:nvPr/>
        </p:nvSpPr>
        <p:spPr>
          <a:xfrm>
            <a:off x="1297472" y="1416005"/>
            <a:ext cx="12568880" cy="12403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Hardware Constraints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 Pin Availability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EEPROM Storage (1kB)</a:t>
            </a:r>
          </a:p>
          <a:p>
            <a:pPr lvl="1">
              <a:lnSpc>
                <a:spcPct val="1500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Software Constraints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ADC Resolution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Timer1 Usage for Sampling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PWM Limitations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0428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83056" y="0"/>
            <a:ext cx="16852406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specifications, Requirements </a:t>
            </a: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Constraints 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BB57E8-9F08-434A-A484-DE14EB18B94D}"/>
              </a:ext>
            </a:extLst>
          </p:cNvPr>
          <p:cNvSpPr txBox="1"/>
          <p:nvPr/>
        </p:nvSpPr>
        <p:spPr>
          <a:xfrm>
            <a:off x="2133600" y="1571621"/>
            <a:ext cx="12568880" cy="13831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Simulation Constraints (Proteus &amp; Real-World Differences)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Limitations in Proteus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EEPROM Persistence in Proteus</a:t>
            </a:r>
          </a:p>
          <a:p>
            <a:pPr>
              <a:lnSpc>
                <a:spcPct val="15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Power &amp; Timing Constraints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Mode Timing: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Watchdog Timer (2s Timeout)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Alarm Duration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97259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64245-1955-E59F-8BB3-A80CD0A47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78DC354-8700-613E-B011-C862DB1F9490}"/>
              </a:ext>
            </a:extLst>
          </p:cNvPr>
          <p:cNvSpPr txBox="1"/>
          <p:nvPr/>
        </p:nvSpPr>
        <p:spPr>
          <a:xfrm>
            <a:off x="1283056" y="0"/>
            <a:ext cx="16852406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specifications, Requirements </a:t>
            </a: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Constraints 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8E359DF-6C7A-592D-9937-1CB776AF7A5D}"/>
              </a:ext>
            </a:extLst>
          </p:cNvPr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7ACCA0F-AD24-DF99-A971-007AF0BEEACB}"/>
                </a:ext>
              </a:extLst>
            </p:cNvPr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57E9194-EAB0-8906-B80F-35F319E8FC39}"/>
                </a:ext>
              </a:extLst>
            </p:cNvPr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E52D2BD2-31E1-1DB9-8DFB-E5BEF20D9CEA}"/>
              </a:ext>
            </a:extLst>
          </p:cNvPr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93A8291-17B2-115D-7A60-9DD57B210408}"/>
                  </a:ext>
                </a:extLst>
              </p:cNvPr>
              <p:cNvSpPr txBox="1"/>
              <p:nvPr/>
            </p:nvSpPr>
            <p:spPr>
              <a:xfrm>
                <a:off x="2413574" y="1171026"/>
                <a:ext cx="12568880" cy="147950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GH" sz="4000" b="1" kern="1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Cutoff Frequency Analysis </a:t>
                </a:r>
                <a:endParaRPr lang="en-GH" sz="40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GH" sz="4000" kern="1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LDR has a response time of 50ms in datasheet, which gives a cutoff frequency of:</a:t>
                </a:r>
                <a:endParaRPr lang="en-GH" sz="40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H" sz="40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𝒇</m:t>
                      </m:r>
                      <m:r>
                        <a:rPr lang="en-GH" sz="40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H" sz="40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H" sz="40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H" sz="40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  <m:r>
                            <a:rPr lang="en-GH" sz="4000" b="1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𝛑</m:t>
                          </m:r>
                          <m:r>
                            <a:rPr lang="en-GH" sz="4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mbria Math" panose="02040503050406030204" pitchFamily="18" charset="0"/>
                            </a:rPr>
                            <m:t>∗</m:t>
                          </m:r>
                          <m:r>
                            <a:rPr lang="en-GH" sz="4000" b="1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mbria Math" panose="02040503050406030204" pitchFamily="18" charset="0"/>
                            </a:rPr>
                            <m:t>𝐑𝐞𝐬𝐩𝐨𝐧𝐬𝐞</m:t>
                          </m:r>
                          <m:r>
                            <a:rPr lang="en-GH" sz="4000" b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mbria Math" panose="02040503050406030204" pitchFamily="18" charset="0"/>
                            </a:rPr>
                            <m:t> </m:t>
                          </m:r>
                          <m:r>
                            <a:rPr lang="en-GH" sz="4000" b="1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mbria Math" panose="02040503050406030204" pitchFamily="18" charset="0"/>
                            </a:rPr>
                            <m:t>𝐓𝐢𝐦𝐞</m:t>
                          </m:r>
                        </m:den>
                      </m:f>
                    </m:oMath>
                  </m:oMathPara>
                </a14:m>
                <a:endParaRPr lang="en-GH" sz="40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GH" sz="4000" b="1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GH" sz="40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H" sz="40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𝒇</m:t>
                      </m:r>
                      <m:r>
                        <a:rPr lang="en-GH" sz="40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H" sz="40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H" sz="40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H" sz="40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  <m:r>
                            <a:rPr lang="en-GH" sz="4000" b="1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𝛑</m:t>
                          </m:r>
                          <m:r>
                            <a:rPr lang="en-GH" sz="4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mbria Math" panose="02040503050406030204" pitchFamily="18" charset="0"/>
                            </a:rPr>
                            <m:t>∗</m:t>
                          </m:r>
                          <m:r>
                            <a:rPr lang="en-GH" sz="4000" b="1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mbria Math" panose="02040503050406030204" pitchFamily="18" charset="0"/>
                            </a:rPr>
                            <m:t>𝟎</m:t>
                          </m:r>
                          <m:r>
                            <a:rPr lang="en-GH" sz="4000" b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mbria Math" panose="02040503050406030204" pitchFamily="18" charset="0"/>
                            </a:rPr>
                            <m:t>.</m:t>
                          </m:r>
                          <m:r>
                            <a:rPr lang="en-GH" sz="4000" b="1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mbria Math" panose="02040503050406030204" pitchFamily="18" charset="0"/>
                            </a:rPr>
                            <m:t>𝟎𝟓</m:t>
                          </m:r>
                          <m:r>
                            <a:rPr lang="en-GH" sz="4000" b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GH" sz="40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H" sz="40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𝟑</m:t>
                      </m:r>
                      <m:r>
                        <a:rPr lang="en-GH" sz="40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H" sz="40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𝟏𝟖</m:t>
                      </m:r>
                      <m:r>
                        <a:rPr lang="en-GH" sz="40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H" sz="40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𝑯𝒛</m:t>
                      </m:r>
                    </m:oMath>
                  </m:oMathPara>
                </a14:m>
                <a:endParaRPr lang="en-GH" sz="40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GH" sz="4000" kern="1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In our analysis, we used the </a:t>
                </a:r>
                <a:r>
                  <a:rPr lang="en-GH" sz="4000" kern="100" dirty="0" err="1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LDR's</a:t>
                </a:r>
                <a:r>
                  <a:rPr lang="en-GH" sz="4000" kern="1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response time to be 50 </a:t>
                </a:r>
                <a:r>
                  <a:rPr lang="en-GH" sz="4000" kern="100" dirty="0" err="1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ms</a:t>
                </a:r>
                <a:r>
                  <a:rPr lang="en-GH" sz="4000" kern="1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as stated in the datasheet, corresponding to a cutoff frequency of 3.18 Hz.</a:t>
                </a:r>
                <a:endParaRPr lang="en-GH" sz="40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4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93A8291-17B2-115D-7A60-9DD57B210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574" y="1171026"/>
                <a:ext cx="12568880" cy="14795012"/>
              </a:xfrm>
              <a:prstGeom prst="rect">
                <a:avLst/>
              </a:prstGeom>
              <a:blipFill>
                <a:blip r:embed="rId3"/>
                <a:stretch>
                  <a:fillRect l="-1746" t="-494" b="-824"/>
                </a:stretch>
              </a:blipFill>
            </p:spPr>
            <p:txBody>
              <a:bodyPr/>
              <a:lstStyle/>
              <a:p>
                <a:r>
                  <a:rPr lang="en-G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5127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7AFA0-8AE4-0419-7679-CB9566DE0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C4B837D-549C-BAAE-0120-BA9F5C69B2BA}"/>
              </a:ext>
            </a:extLst>
          </p:cNvPr>
          <p:cNvSpPr txBox="1"/>
          <p:nvPr/>
        </p:nvSpPr>
        <p:spPr>
          <a:xfrm>
            <a:off x="1283056" y="0"/>
            <a:ext cx="16852406" cy="2491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Schematic Diagram &amp; Modelling</a:t>
            </a:r>
          </a:p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endParaRPr lang="en-US" sz="6000" b="1" u="none" strike="noStrik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DE5911F-D648-3C9C-6E20-55C56BB31B54}"/>
              </a:ext>
            </a:extLst>
          </p:cNvPr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E07F08E-5A3F-5D32-B64F-3EE5DC12F172}"/>
                </a:ext>
              </a:extLst>
            </p:cNvPr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5DD0AE5-2340-DD49-43D8-82D3C8BA60D8}"/>
                </a:ext>
              </a:extLst>
            </p:cNvPr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DB001A0A-4352-FCC1-1876-11825C062CDA}"/>
              </a:ext>
            </a:extLst>
          </p:cNvPr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D24F980-A285-51FE-91BB-6BFA0995AD12}"/>
                  </a:ext>
                </a:extLst>
              </p:cNvPr>
              <p:cNvSpPr txBox="1"/>
              <p:nvPr/>
            </p:nvSpPr>
            <p:spPr>
              <a:xfrm>
                <a:off x="1524000" y="1171026"/>
                <a:ext cx="15011400" cy="8486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800"/>
                  </a:spcBef>
                  <a:spcAft>
                    <a:spcPts val="400"/>
                  </a:spcAft>
                  <a:buNone/>
                </a:pPr>
                <a:r>
                  <a:rPr lang="en-GH" sz="3200" b="1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Light Intensity Levels and LDR Parameters</a:t>
                </a:r>
              </a:p>
              <a:p>
                <a:pPr marL="342900" lvl="0" indent="-342900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/>
                  <a:tabLst>
                    <a:tab pos="457200" algn="l"/>
                  </a:tabLst>
                </a:pPr>
                <a:r>
                  <a:rPr lang="en-GH" sz="32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High Light Condition (100 lux)</a:t>
                </a:r>
                <a:endParaRPr lang="en-GH" sz="32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15000"/>
                  </a:lnSpc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914400" algn="l"/>
                  </a:tabLst>
                </a:pPr>
                <a:r>
                  <a:rPr lang="en-GH" sz="32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LDR Resistance: 500Ω (from datasheet specs)</a:t>
                </a:r>
                <a:endParaRPr lang="en-GH" sz="32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15000"/>
                  </a:lnSpc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914400" algn="l"/>
                  </a:tabLst>
                </a:pPr>
                <a:r>
                  <a:rPr lang="en-GH" sz="32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Voltage (with 10k resistor): </a:t>
                </a:r>
                <a:endParaRPr lang="en-GH" sz="32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𝒍𝒅𝒓</m:t>
                          </m:r>
                        </m:sub>
                      </m:sSub>
                      <m:r>
                        <a:rPr lang="en-GH" sz="32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=</m:t>
                      </m:r>
                      <m:f>
                        <m:fPr>
                          <m:ctrlP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𝒄𝒄</m:t>
                              </m:r>
                              <m: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 </m:t>
                              </m:r>
                            </m:sub>
                          </m:sSub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∗ </m:t>
                          </m:r>
                          <m:sSub>
                            <m:sSubPr>
                              <m:ctrlP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𝒍𝒅𝒓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𝒍𝒅𝒓</m:t>
                              </m:r>
                            </m:sub>
                          </m:sSub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den>
                      </m:f>
                      <m:r>
                        <a:rPr lang="en-GH" sz="32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𝟓</m:t>
                          </m:r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∗ </m:t>
                          </m:r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𝟓𝟎𝟎</m:t>
                          </m:r>
                        </m:num>
                        <m:den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𝟓𝟎𝟎</m:t>
                          </m:r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𝟑𝟕𝟎𝟎</m:t>
                          </m:r>
                        </m:den>
                      </m:f>
                      <m:r>
                        <a:rPr lang="en-GH" sz="32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H" sz="32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𝟎</m:t>
                      </m:r>
                      <m:r>
                        <a:rPr lang="en-GH" sz="32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H" sz="32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𝟓𝟗𝟓</m:t>
                      </m:r>
                      <m:r>
                        <a:rPr lang="en-GH" sz="32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H" sz="32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𝒎𝑽</m:t>
                      </m:r>
                    </m:oMath>
                  </m:oMathPara>
                </a14:m>
                <a:endParaRPr lang="en-GH" sz="32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 startAt="2"/>
                  <a:tabLst>
                    <a:tab pos="457200" algn="l"/>
                  </a:tabLst>
                </a:pPr>
                <a:r>
                  <a:rPr lang="en-GH" sz="32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Low Light Condition (10 lux)</a:t>
                </a:r>
                <a:endParaRPr lang="en-GH" sz="32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15000"/>
                  </a:lnSpc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914400" algn="l"/>
                  </a:tabLst>
                </a:pPr>
                <a:r>
                  <a:rPr lang="en-GH" sz="32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LDR Resistance: 200kΩ (datasheet specs)</a:t>
                </a:r>
                <a:endParaRPr lang="en-GH" sz="32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𝒍𝒅𝒓</m:t>
                          </m:r>
                        </m:sub>
                      </m:sSub>
                      <m:r>
                        <a:rPr lang="en-GH" sz="32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=</m:t>
                      </m:r>
                      <m:f>
                        <m:fPr>
                          <m:ctrlP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𝒄𝒄</m:t>
                              </m:r>
                              <m: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 </m:t>
                              </m:r>
                            </m:sub>
                          </m:sSub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∗ </m:t>
                          </m:r>
                          <m:sSub>
                            <m:sSubPr>
                              <m:ctrlP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𝒍𝒅𝒓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𝒍𝒅𝒓</m:t>
                              </m:r>
                            </m:sub>
                          </m:sSub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den>
                      </m:f>
                      <m:r>
                        <a:rPr lang="en-GH" sz="32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𝟓</m:t>
                          </m:r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∗ </m:t>
                          </m:r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𝟐𝟎𝟎</m:t>
                          </m:r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𝟎𝟎𝟎</m:t>
                          </m:r>
                        </m:num>
                        <m:den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𝟐𝟎𝟎</m:t>
                          </m:r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𝟎𝟎</m:t>
                          </m:r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𝟑𝟕𝟎𝟎</m:t>
                          </m:r>
                        </m:den>
                      </m:f>
                      <m:r>
                        <a:rPr lang="en-GH" sz="32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H" sz="32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𝟒</m:t>
                      </m:r>
                      <m:r>
                        <a:rPr lang="en-GH" sz="32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H" sz="32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𝟗𝟎𝟗</m:t>
                      </m:r>
                      <m:r>
                        <a:rPr lang="en-GH" sz="32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H" sz="32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𝒎𝑽</m:t>
                      </m:r>
                    </m:oMath>
                  </m:oMathPara>
                </a14:m>
                <a:endParaRPr lang="en-GH" sz="32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GH" sz="32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Hence, a resistor value of </a:t>
                </a:r>
                <a:r>
                  <a:rPr lang="en-GH" sz="3200" b="1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3700 Ohms</a:t>
                </a:r>
                <a:r>
                  <a:rPr lang="en-GH" sz="32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appropriate to be used in the voltage divider circuit along with the </a:t>
                </a:r>
                <a:r>
                  <a:rPr lang="en-GH" sz="3200" kern="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ldr</a:t>
                </a:r>
                <a:r>
                  <a:rPr lang="en-GH" sz="32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GH" sz="32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D24F980-A285-51FE-91BB-6BFA0995A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1171026"/>
                <a:ext cx="15011400" cy="8486554"/>
              </a:xfrm>
              <a:prstGeom prst="rect">
                <a:avLst/>
              </a:prstGeom>
              <a:blipFill>
                <a:blip r:embed="rId3"/>
                <a:stretch>
                  <a:fillRect l="-1015" t="-647"/>
                </a:stretch>
              </a:blipFill>
            </p:spPr>
            <p:txBody>
              <a:bodyPr/>
              <a:lstStyle/>
              <a:p>
                <a:r>
                  <a:rPr lang="en-G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6152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C4105-5597-F3F7-13A4-51ECE5A15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56771A8-9C04-2CB6-F0B5-F6DBA7533EB5}"/>
              </a:ext>
            </a:extLst>
          </p:cNvPr>
          <p:cNvSpPr txBox="1"/>
          <p:nvPr/>
        </p:nvSpPr>
        <p:spPr>
          <a:xfrm>
            <a:off x="1283056" y="0"/>
            <a:ext cx="16852406" cy="2491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Schematic Diagram &amp; Modelling</a:t>
            </a:r>
          </a:p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endParaRPr lang="en-US" sz="6000" b="1" u="none" strike="noStrik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9068B86-5BDF-0711-60D8-2AD845BEFE84}"/>
              </a:ext>
            </a:extLst>
          </p:cNvPr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33566F-B8D6-753D-06C6-7D92B93B97D5}"/>
                </a:ext>
              </a:extLst>
            </p:cNvPr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9525BF0A-1A03-355E-4090-E5C4D21E75DD}"/>
                </a:ext>
              </a:extLst>
            </p:cNvPr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A3C1FFD7-4450-CE46-11D0-6CB14B9FCD9B}"/>
              </a:ext>
            </a:extLst>
          </p:cNvPr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0AFB0C-5A71-9A64-CE5D-CF8DF274A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199" y="1171026"/>
            <a:ext cx="10780141" cy="794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717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28800" y="0"/>
            <a:ext cx="16852406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Schematic Diagram &amp; Modelling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10182871"/>
            <a:ext cx="18288000" cy="104129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8DCE38-F234-407D-93D0-72039641E60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1416005"/>
            <a:ext cx="18288000" cy="876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129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02708" y="54702"/>
            <a:ext cx="16852406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Logic Flow &amp; Code Development</a:t>
            </a:r>
          </a:p>
        </p:txBody>
      </p:sp>
      <p:sp>
        <p:nvSpPr>
          <p:cNvPr id="15" name="Freeform 15"/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74C9FF-AA6D-4FD0-8B12-C1B8314AD8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81100"/>
            <a:ext cx="17068800" cy="9061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4586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AC1A6-8A36-2C0B-07B0-C12606CCF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1ADC5E0-0141-99F9-BA1F-FD4ABB23FF38}"/>
              </a:ext>
            </a:extLst>
          </p:cNvPr>
          <p:cNvSpPr txBox="1"/>
          <p:nvPr/>
        </p:nvSpPr>
        <p:spPr>
          <a:xfrm>
            <a:off x="1283056" y="0"/>
            <a:ext cx="16852406" cy="2491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Logic Flow &amp; Code Development</a:t>
            </a:r>
          </a:p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endParaRPr lang="en-US" sz="6000" b="1" u="none" strike="noStrik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8DCF1A8-BC56-5430-BB10-903E4B67AD2C}"/>
              </a:ext>
            </a:extLst>
          </p:cNvPr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FAC348E-F23D-85B7-83E3-74DB72919B38}"/>
                </a:ext>
              </a:extLst>
            </p:cNvPr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97F4208-5829-0101-B8E8-C4C9EAE5B8E9}"/>
                </a:ext>
              </a:extLst>
            </p:cNvPr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3EE16BED-E050-6AD4-F119-A3AE83E7E866}"/>
              </a:ext>
            </a:extLst>
          </p:cNvPr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A7FE766-369D-88A5-A98C-7251E9D7FD42}"/>
                  </a:ext>
                </a:extLst>
              </p:cNvPr>
              <p:cNvSpPr txBox="1"/>
              <p:nvPr/>
            </p:nvSpPr>
            <p:spPr>
              <a:xfrm>
                <a:off x="1524000" y="1171026"/>
                <a:ext cx="15011400" cy="87149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GH" sz="2400" b="1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How the Timer1 Settings will be made to Achieve a frequency of 100 Hz</a:t>
                </a:r>
                <a:endParaRPr lang="en-GH" sz="24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GH" sz="24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GH" sz="2400" b="1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Timer1 ISR (Interrupt Service Routine)</a:t>
                </a:r>
                <a:r>
                  <a:rPr lang="en-GH" sz="24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must execute </a:t>
                </a:r>
                <a:r>
                  <a:rPr lang="en-GH" sz="2400" b="1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every 10 </a:t>
                </a:r>
                <a:r>
                  <a:rPr lang="en-GH" sz="2400" b="1" kern="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ms</a:t>
                </a:r>
                <a:r>
                  <a:rPr lang="en-GH" sz="24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This is done by:</a:t>
                </a:r>
                <a:endParaRPr lang="en-GH" sz="24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15000"/>
                  </a:lnSpc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GH" sz="24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Selecting </a:t>
                </a:r>
                <a:r>
                  <a:rPr lang="en-GH" sz="2400" b="1" kern="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Prescaler</a:t>
                </a:r>
                <a:r>
                  <a:rPr lang="en-GH" sz="2400" b="1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1024</a:t>
                </a:r>
                <a:r>
                  <a:rPr lang="en-GH" sz="24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to slow down the 16 MHz clock</a:t>
                </a:r>
                <a:endParaRPr lang="en-GH" sz="24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GH" sz="24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Using the formula:</a:t>
                </a:r>
                <a:endParaRPr lang="en-GH" sz="24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H" sz="24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𝒊𝒏𝒕𝒆𝒓𝒓𝒖𝒑𝒕</m:t>
                          </m:r>
                        </m:sub>
                      </m:sSub>
                      <m:r>
                        <a:rPr lang="en-GH" sz="24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  </m:t>
                          </m:r>
                          <m:sSub>
                            <m:sSubPr>
                              <m:ctrlPr>
                                <a:rPr lang="en-GH" sz="24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H" sz="24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GH" sz="24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𝑪𝑷𝑼</m:t>
                              </m:r>
                            </m:sub>
                          </m:sSub>
                        </m:num>
                        <m:den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𝑷𝒓𝒆𝒔𝒄𝒂𝒍𝒆𝒓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∗(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𝑶𝑪𝑹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H" sz="24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GH" sz="2400" b="1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GH" sz="24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H" sz="24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𝟏𝟎𝟎</m:t>
                      </m:r>
                      <m:r>
                        <a:rPr lang="en-GH" sz="24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=</m:t>
                      </m:r>
                      <m:f>
                        <m:fPr>
                          <m:ctrlP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  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𝟏𝟔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𝟎𝟎𝟎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𝟎𝟎𝟎</m:t>
                          </m:r>
                        </m:num>
                        <m:den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𝟏𝟎𝟐𝟒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∗(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𝑶𝑪𝑹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H" sz="24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GH" sz="2400" b="1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GH" sz="24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H" sz="24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𝑶𝑪𝑹</m:t>
                      </m:r>
                      <m:r>
                        <a:rPr lang="en-GH" sz="24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GH" sz="24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GH" sz="24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=</m:t>
                      </m:r>
                      <m:f>
                        <m:fPr>
                          <m:ctrlP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  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𝟏𝟔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𝟎𝟎𝟎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𝟎𝟎𝟎</m:t>
                          </m:r>
                        </m:num>
                        <m:den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𝟏𝟎𝟐𝟒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𝟏𝟎𝟎</m:t>
                          </m:r>
                        </m:den>
                      </m:f>
                      <m:r>
                        <a:rPr lang="en-GH" sz="24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H" sz="24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GH" sz="24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H" sz="24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𝟏𝟓𝟔</m:t>
                      </m:r>
                    </m:oMath>
                  </m:oMathPara>
                </a14:m>
                <a:endParaRPr lang="en-GH" sz="24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GH" sz="24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GH" sz="24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15000"/>
                  </a:lnSpc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GH" sz="24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Setting </a:t>
                </a:r>
                <a:r>
                  <a:rPr lang="en-GH" sz="2400" b="1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OCR1A = 156</a:t>
                </a:r>
                <a:r>
                  <a:rPr lang="en-GH" sz="24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 </a:t>
                </a:r>
                <a:r>
                  <a:rPr lang="en-GH" sz="2400" b="1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CTC mode</a:t>
                </a:r>
                <a:r>
                  <a:rPr lang="en-GH" sz="24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will ensure that the timer triggers </a:t>
                </a:r>
                <a:r>
                  <a:rPr lang="en-GH" sz="2400" b="1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exactly every 10 </a:t>
                </a:r>
                <a:r>
                  <a:rPr lang="en-GH" sz="2400" b="1" kern="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ms</a:t>
                </a:r>
                <a:r>
                  <a:rPr lang="en-GH" sz="24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GH" sz="24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GH" sz="24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GH" sz="24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GH" sz="24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Thus, every </a:t>
                </a:r>
                <a:r>
                  <a:rPr lang="en-GH" sz="2400" b="1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10 </a:t>
                </a:r>
                <a:r>
                  <a:rPr lang="en-GH" sz="2400" b="1" kern="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ms</a:t>
                </a:r>
                <a:r>
                  <a:rPr lang="en-GH" sz="24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 interrupt occurs, allowing the </a:t>
                </a:r>
                <a:r>
                  <a:rPr lang="en-GH" sz="2400" b="1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LDR sensor to be read and processed</a:t>
                </a:r>
                <a:r>
                  <a:rPr lang="en-GH" sz="24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GH" sz="24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A7FE766-369D-88A5-A98C-7251E9D7F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1171026"/>
                <a:ext cx="15011400" cy="8714950"/>
              </a:xfrm>
              <a:prstGeom prst="rect">
                <a:avLst/>
              </a:prstGeom>
              <a:blipFill>
                <a:blip r:embed="rId3"/>
                <a:stretch>
                  <a:fillRect l="-609" t="-280"/>
                </a:stretch>
              </a:blipFill>
            </p:spPr>
            <p:txBody>
              <a:bodyPr/>
              <a:lstStyle/>
              <a:p>
                <a:r>
                  <a:rPr lang="en-G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187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9499734"/>
            <a:ext cx="16852406" cy="596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The figure above shows the magnitude response of the filter. </a:t>
            </a:r>
            <a:endParaRPr kumimoji="0" lang="en-US" sz="36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0" y="10182871"/>
            <a:ext cx="18288000" cy="104129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H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TextBox 2">
            <a:extLst>
              <a:ext uri="{FF2B5EF4-FFF2-40B4-BE49-F238E27FC236}">
                <a16:creationId xmlns:a16="http://schemas.microsoft.com/office/drawing/2014/main" id="{7B3B7A9D-7F87-4576-9580-3AFCEF237BDF}"/>
              </a:ext>
            </a:extLst>
          </p:cNvPr>
          <p:cNvSpPr txBox="1"/>
          <p:nvPr/>
        </p:nvSpPr>
        <p:spPr>
          <a:xfrm>
            <a:off x="3276600" y="-218772"/>
            <a:ext cx="16852406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0276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Digital Filter Design</a:t>
            </a:r>
          </a:p>
        </p:txBody>
      </p:sp>
      <p:sp>
        <p:nvSpPr>
          <p:cNvPr id="9" name="Freeform 15">
            <a:extLst>
              <a:ext uri="{FF2B5EF4-FFF2-40B4-BE49-F238E27FC236}">
                <a16:creationId xmlns:a16="http://schemas.microsoft.com/office/drawing/2014/main" id="{11523C47-1CA5-44FC-89FF-E7A52B6C2440}"/>
              </a:ext>
            </a:extLst>
          </p:cNvPr>
          <p:cNvSpPr/>
          <p:nvPr/>
        </p:nvSpPr>
        <p:spPr>
          <a:xfrm>
            <a:off x="0" y="69438"/>
            <a:ext cx="914262" cy="998754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DFDA77B-C441-4C0C-B856-F995E3F9C28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1150451"/>
            <a:ext cx="18288000" cy="8349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724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97594" y="9423534"/>
            <a:ext cx="16852406" cy="596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The figure above shows the impulse response of the filter. </a:t>
            </a:r>
            <a:endParaRPr kumimoji="0" lang="en-US" sz="36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0" y="10182871"/>
            <a:ext cx="18288000" cy="104129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H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8CD273C1-5558-478E-873A-15C7CEFAA60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8288000" cy="9315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3153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9423534"/>
            <a:ext cx="16852406" cy="596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The figure above shows the zero pole map of the filter indicating that the system is stable </a:t>
            </a:r>
            <a:endParaRPr kumimoji="0" lang="en-US" sz="36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0" y="10182871"/>
            <a:ext cx="18288000" cy="104129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H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64AE0C-BE85-43A0-934A-21B290D2FEA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8288000" cy="926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7266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9423534"/>
            <a:ext cx="16852406" cy="596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The figure above shows the filter coefficients for the digital filter design </a:t>
            </a:r>
            <a:endParaRPr kumimoji="0" lang="en-US" sz="36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0" y="10182871"/>
            <a:ext cx="18288000" cy="104129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H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18C573-7ED8-47BE-8DA0-E9878F5A686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8288000" cy="895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6811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02708" y="54702"/>
            <a:ext cx="16852406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Logic Flow &amp; Code Development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BB57E8-9F08-434A-A484-DE14EB18B94D}"/>
              </a:ext>
            </a:extLst>
          </p:cNvPr>
          <p:cNvSpPr txBox="1"/>
          <p:nvPr/>
        </p:nvSpPr>
        <p:spPr>
          <a:xfrm>
            <a:off x="2133600" y="1472767"/>
            <a:ext cx="12568880" cy="5521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Code Sections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Timer1 Setup: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100Hz interrupt for sensor sampling.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Biquad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filter for noise reduction.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EEPROM Handling: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Saves detection data.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Alarm Mode: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Buzzer &amp; LED PWM control.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Low-Power Mode: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MCU sleeps between readings.</a:t>
            </a:r>
          </a:p>
        </p:txBody>
      </p:sp>
    </p:spTree>
    <p:extLst>
      <p:ext uri="{BB962C8B-B14F-4D97-AF65-F5344CB8AC3E}">
        <p14:creationId xmlns:p14="http://schemas.microsoft.com/office/powerpoint/2010/main" val="31063227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02708" y="54702"/>
            <a:ext cx="16852406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and Performance Evaluation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BB57E8-9F08-434A-A484-DE14EB18B94D}"/>
              </a:ext>
            </a:extLst>
          </p:cNvPr>
          <p:cNvSpPr txBox="1"/>
          <p:nvPr/>
        </p:nvSpPr>
        <p:spPr>
          <a:xfrm>
            <a:off x="2115065" y="1423340"/>
            <a:ext cx="12568880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Scenarios: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Light: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Normal mode (Green LED ON).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Sudden Bright Light: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Alarm triggers (Buzzer + Red LED Blinking).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Button Press: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detection count &amp; timestamp on LCD.</a:t>
            </a:r>
          </a:p>
          <a:p>
            <a:pPr lvl="1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light detection with minimal false alarms.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filtering works as expected.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optimization reduces energy consumption.</a:t>
            </a:r>
          </a:p>
        </p:txBody>
      </p:sp>
    </p:spTree>
    <p:extLst>
      <p:ext uri="{BB962C8B-B14F-4D97-AF65-F5344CB8AC3E}">
        <p14:creationId xmlns:p14="http://schemas.microsoft.com/office/powerpoint/2010/main" val="31003888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10182871"/>
            <a:ext cx="18288000" cy="104129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H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8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5E5B78D1-02E8-4946-A478-8B0E147DA7B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011" y="-44517"/>
            <a:ext cx="18288000" cy="9468051"/>
          </a:xfrm>
          <a:prstGeom prst="rect">
            <a:avLst/>
          </a:prstGeom>
        </p:spPr>
      </p:pic>
      <p:sp>
        <p:nvSpPr>
          <p:cNvPr id="10" name="TextBox 2">
            <a:extLst>
              <a:ext uri="{FF2B5EF4-FFF2-40B4-BE49-F238E27FC236}">
                <a16:creationId xmlns:a16="http://schemas.microsoft.com/office/drawing/2014/main" id="{46C63F12-C7FA-46A4-BEEB-4CF0954B6A5E}"/>
              </a:ext>
            </a:extLst>
          </p:cNvPr>
          <p:cNvSpPr txBox="1"/>
          <p:nvPr/>
        </p:nvSpPr>
        <p:spPr>
          <a:xfrm>
            <a:off x="1752600" y="9423534"/>
            <a:ext cx="16852406" cy="596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Normal light intensity meaning no intruder has invaded the area.</a:t>
            </a:r>
            <a:endParaRPr kumimoji="0" lang="en-US" sz="36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43385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35594" y="8952574"/>
            <a:ext cx="16852406" cy="1098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0276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DengXian" panose="02010600030101010101" pitchFamily="2" charset="-122"/>
                <a:cs typeface="+mn-cs"/>
              </a:rPr>
              <a:t>When darkness falls on it or light intensity is low meaning there is an intruder.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0" y="10182871"/>
            <a:ext cx="18288000" cy="104129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H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D5B792EA-F384-48B2-AB95-364A99B5028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33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7145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7797" y="9029700"/>
            <a:ext cx="16852406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When the button is pressed it indicates the number of detections on the LCD and the time the detection took place since the Arduino has been working or active.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0" y="10182871"/>
            <a:ext cx="18288000" cy="104129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H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6FD27FD1-A069-48D6-84B8-BD4CF685B37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-10297" y="61791"/>
            <a:ext cx="18288000" cy="887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9595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05900"/>
            <a:ext cx="16852406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Frequency of 6Hz beyond the 3Hz cutoff frequency is added to the system to simulate noise.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0" y="10182871"/>
            <a:ext cx="18288000" cy="104129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H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18F4A2-7D4E-4F74-A6AD-CEC4AA025764}"/>
              </a:ext>
            </a:extLst>
          </p:cNvPr>
          <p:cNvPicPr/>
          <p:nvPr/>
        </p:nvPicPr>
        <p:blipFill rotWithShape="1">
          <a:blip r:embed="rId2"/>
          <a:srcRect l="10802" r="11091"/>
          <a:stretch/>
        </p:blipFill>
        <p:spPr bwMode="auto">
          <a:xfrm>
            <a:off x="-18535" y="-1"/>
            <a:ext cx="18288000" cy="903279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941816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8953500"/>
            <a:ext cx="16852406" cy="12338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Proteus, the 6 Hz noise is completely filtered, making the LDR appear unresponsive even when an intruder is present.</a:t>
            </a:r>
            <a:endParaRPr kumimoji="0" lang="en-US" sz="36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0" y="10182871"/>
            <a:ext cx="18288000" cy="104129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H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8C31679E-0735-4B59-B89D-F32EE22DF10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895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0415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02708" y="54702"/>
            <a:ext cx="16852406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</a:t>
            </a: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work</a:t>
            </a:r>
            <a:endParaRPr lang="en-US" sz="6000" b="1" u="none" strike="noStrik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BB57E8-9F08-434A-A484-DE14EB18B94D}"/>
              </a:ext>
            </a:extLst>
          </p:cNvPr>
          <p:cNvSpPr txBox="1"/>
          <p:nvPr/>
        </p:nvSpPr>
        <p:spPr>
          <a:xfrm>
            <a:off x="2080054" y="1711791"/>
            <a:ext cx="12667735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implemented an embedded security detection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processing using ADC, timers, and PWM.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Hysteresis logic prevents false alarms.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Power-efficient with sleep mode &amp; watchdog timer.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Connectivity: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Wi-Fi/Bluetooth for remote monitoring.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Adaptive threshold detection.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alerts via IoT integration.</a:t>
            </a:r>
          </a:p>
        </p:txBody>
      </p:sp>
    </p:spTree>
    <p:extLst>
      <p:ext uri="{BB962C8B-B14F-4D97-AF65-F5344CB8AC3E}">
        <p14:creationId xmlns:p14="http://schemas.microsoft.com/office/powerpoint/2010/main" val="36927833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05400" y="310612"/>
            <a:ext cx="9781728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7BFA6755-26A0-4232-8E2E-12D6079D63B7}"/>
              </a:ext>
            </a:extLst>
          </p:cNvPr>
          <p:cNvSpPr txBox="1"/>
          <p:nvPr/>
        </p:nvSpPr>
        <p:spPr>
          <a:xfrm>
            <a:off x="730523" y="1887178"/>
            <a:ext cx="16826954" cy="7412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3200" b="1" spc="239" dirty="0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1. </a:t>
            </a:r>
            <a:r>
              <a:rPr lang="en-US" sz="3200" spc="239" dirty="0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Putri, M., &amp; </a:t>
            </a:r>
            <a:r>
              <a:rPr lang="en-US" sz="3200" spc="239" dirty="0" err="1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Aryza</a:t>
            </a:r>
            <a:r>
              <a:rPr lang="en-US" sz="3200" spc="239" dirty="0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, S. (2018). Design of security tools using sensor light dependent resistor (LDR) through mobile phone. International Journal for Innovative Research in Multidisciplinary Field, 4(10), 1681.</a:t>
            </a:r>
            <a:r>
              <a:rPr lang="en-US" sz="3200" b="1" spc="239" dirty="0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 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3200" b="1" spc="239" dirty="0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 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3200" b="1" spc="239" dirty="0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2. </a:t>
            </a:r>
            <a:r>
              <a:rPr lang="en-US" sz="3200" spc="239" dirty="0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Dixit, J., </a:t>
            </a:r>
            <a:r>
              <a:rPr lang="en-US" sz="3200" spc="239" dirty="0" err="1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Katiyar</a:t>
            </a:r>
            <a:r>
              <a:rPr lang="en-US" sz="3200" spc="239" dirty="0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, D., &amp; Goel, G. (2021). Automatic street light controller system using LDR and PIR sensor. International Journal of Creative Research Thoughts, 9(4), 9492.  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3200" b="1" spc="239" dirty="0">
              <a:solidFill>
                <a:srgbClr val="000000"/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3200" b="1" spc="239" dirty="0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3. </a:t>
            </a:r>
            <a:r>
              <a:rPr lang="en-US" sz="3200" spc="239" dirty="0" err="1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Misra</a:t>
            </a:r>
            <a:r>
              <a:rPr lang="en-US" sz="3200" spc="239" dirty="0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, D. S. (2021). Research on automatic light control system using LDR. International Journal of Creative Research Thoughts, 9(4), 1323.  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3200" b="1" spc="239" dirty="0">
              <a:solidFill>
                <a:srgbClr val="000000"/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3200" b="1" spc="239" dirty="0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4.</a:t>
            </a:r>
            <a:r>
              <a:rPr lang="en-US" sz="3200" spc="239" dirty="0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Hossain, A. (2021). Automatic light detector using LDR in Proteus. The Engineering Projects. 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3200" b="1" spc="239" dirty="0">
              <a:solidFill>
                <a:srgbClr val="000000"/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3200" b="1" spc="239" dirty="0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5. </a:t>
            </a:r>
            <a:r>
              <a:rPr lang="en-US" sz="3200" spc="239" dirty="0" err="1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Utsource</a:t>
            </a:r>
            <a:r>
              <a:rPr lang="en-US" sz="3200" spc="239" dirty="0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Parts. (2020). Laser based security system with Arduino. Maker Pro.  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3200" b="1" spc="239" dirty="0">
              <a:solidFill>
                <a:srgbClr val="000000"/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3200" b="1" spc="239" dirty="0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6. </a:t>
            </a:r>
            <a:r>
              <a:rPr lang="en-US" sz="3200" spc="239" dirty="0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Electronics Tutorials. (n.d.). Light sensor including photocell and LDR sensor. </a:t>
            </a:r>
          </a:p>
        </p:txBody>
      </p:sp>
    </p:spTree>
    <p:extLst>
      <p:ext uri="{BB962C8B-B14F-4D97-AF65-F5344CB8AC3E}">
        <p14:creationId xmlns:p14="http://schemas.microsoft.com/office/powerpoint/2010/main" val="35275013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076677" y="4595697"/>
            <a:ext cx="8460437" cy="1603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08"/>
              </a:lnSpc>
            </a:pPr>
            <a:r>
              <a:rPr lang="en-US" sz="10424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5" name="Freeform 5"/>
          <p:cNvSpPr/>
          <p:nvPr/>
        </p:nvSpPr>
        <p:spPr>
          <a:xfrm>
            <a:off x="6830690" y="2418233"/>
            <a:ext cx="1772049" cy="2056321"/>
          </a:xfrm>
          <a:custGeom>
            <a:avLst/>
            <a:gdLst/>
            <a:ahLst/>
            <a:cxnLst/>
            <a:rect l="l" t="t" r="r" b="b"/>
            <a:pathLst>
              <a:path w="1772049" h="2056321">
                <a:moveTo>
                  <a:pt x="0" y="0"/>
                </a:moveTo>
                <a:lnTo>
                  <a:pt x="1772049" y="0"/>
                </a:lnTo>
                <a:lnTo>
                  <a:pt x="1772049" y="2056320"/>
                </a:lnTo>
                <a:lnTo>
                  <a:pt x="0" y="20563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sp>
        <p:nvSpPr>
          <p:cNvPr id="6" name="Freeform 6"/>
          <p:cNvSpPr/>
          <p:nvPr/>
        </p:nvSpPr>
        <p:spPr>
          <a:xfrm>
            <a:off x="8887717" y="2550410"/>
            <a:ext cx="1791965" cy="1791965"/>
          </a:xfrm>
          <a:custGeom>
            <a:avLst/>
            <a:gdLst/>
            <a:ahLst/>
            <a:cxnLst/>
            <a:rect l="l" t="t" r="r" b="b"/>
            <a:pathLst>
              <a:path w="1791965" h="1791965">
                <a:moveTo>
                  <a:pt x="0" y="0"/>
                </a:moveTo>
                <a:lnTo>
                  <a:pt x="1791965" y="0"/>
                </a:lnTo>
                <a:lnTo>
                  <a:pt x="1791965" y="1791965"/>
                </a:lnTo>
                <a:lnTo>
                  <a:pt x="0" y="17919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H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5994CADD-77E8-484B-BBF9-472E8260EC49}"/>
              </a:ext>
            </a:extLst>
          </p:cNvPr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D19584EE-B3D1-4C2A-82E5-08D065B66ACA}"/>
                </a:ext>
              </a:extLst>
            </p:cNvPr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9" name="TextBox 6">
              <a:extLst>
                <a:ext uri="{FF2B5EF4-FFF2-40B4-BE49-F238E27FC236}">
                  <a16:creationId xmlns:a16="http://schemas.microsoft.com/office/drawing/2014/main" id="{112033A4-956A-4FFD-B59A-23783B6E3145}"/>
                </a:ext>
              </a:extLst>
            </p:cNvPr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1157</Words>
  <Application>Microsoft Office PowerPoint</Application>
  <PresentationFormat>Custom</PresentationFormat>
  <Paragraphs>217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6" baseType="lpstr">
      <vt:lpstr>Cambria Math</vt:lpstr>
      <vt:lpstr>Times New Roman</vt:lpstr>
      <vt:lpstr>Arial</vt:lpstr>
      <vt:lpstr>Helios Extended Bold</vt:lpstr>
      <vt:lpstr>Symbol</vt:lpstr>
      <vt:lpstr>DengXian Light</vt:lpstr>
      <vt:lpstr>Heebo Bold</vt:lpstr>
      <vt:lpstr>Lato</vt:lpstr>
      <vt:lpstr>Calibri</vt:lpstr>
      <vt:lpstr>Aptos</vt:lpstr>
      <vt:lpstr>DengXian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Violet Professional Modern Technology Pitch Deck Presentation</dc:title>
  <dc:creator>BERNICE BOATENG</dc:creator>
  <cp:lastModifiedBy>12345</cp:lastModifiedBy>
  <cp:revision>29</cp:revision>
  <dcterms:created xsi:type="dcterms:W3CDTF">2006-08-16T00:00:00Z</dcterms:created>
  <dcterms:modified xsi:type="dcterms:W3CDTF">2026-10-18T21:57:43Z</dcterms:modified>
  <dc:identifier>DAFzwQTusV0</dc:identifier>
</cp:coreProperties>
</file>